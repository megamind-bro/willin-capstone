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6" r:id="rId4"/>
  </p:sldMasterIdLst>
  <p:notesMasterIdLst>
    <p:notesMasterId r:id="rId15"/>
  </p:notesMasterIdLst>
  <p:handoutMasterIdLst>
    <p:handoutMasterId r:id="rId16"/>
  </p:handoutMasterIdLst>
  <p:sldIdLst>
    <p:sldId id="332" r:id="rId5"/>
    <p:sldId id="333" r:id="rId6"/>
    <p:sldId id="334" r:id="rId7"/>
    <p:sldId id="346" r:id="rId8"/>
    <p:sldId id="337" r:id="rId9"/>
    <p:sldId id="338" r:id="rId10"/>
    <p:sldId id="339" r:id="rId11"/>
    <p:sldId id="340" r:id="rId12"/>
    <p:sldId id="341" r:id="rId13"/>
    <p:sldId id="34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C24C09-551A-44FB-89D5-A8B767EF993B}" v="196" dt="2026-01-25T12:12:40.364"/>
  </p1510:revLst>
</p1510:revInfo>
</file>

<file path=ppt/tableStyles.xml><?xml version="1.0" encoding="utf-8"?>
<a:tblStyleLst xmlns:a="http://schemas.openxmlformats.org/drawingml/2006/main" def="{C083E6E3-FA7D-4D7B-A595-EF9225AFEA8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5388" autoAdjust="0"/>
  </p:normalViewPr>
  <p:slideViewPr>
    <p:cSldViewPr snapToGrid="0">
      <p:cViewPr varScale="1">
        <p:scale>
          <a:sx n="111" d="100"/>
          <a:sy n="111" d="100"/>
        </p:scale>
        <p:origin x="57" y="3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8E7403-EB4A-4177-AFCE-6A9D7B160C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49177-C030-4043-9380-EA6E4C94A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7415F-6970-4DE4-93F1-94FEF07D0F1C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C83CE-EC9B-40C4-BD7A-48797AE5B1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9A75D-9B4E-4704-98C7-2A42472F1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C6D6D-E986-427F-AD9C-4E9408DDBE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74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E6E5-5A19-4AE7-8D4E-049C5315C9A0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A580F-E35D-42E1-AF82-E41CC201EA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84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535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21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08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358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835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4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70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53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0186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017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9914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751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07822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66521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47046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463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642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6043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9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908591"/>
            <a:ext cx="4058728" cy="5225507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99125" y="0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32A424-7EFB-F80C-2BDA-94D103A55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EFEEF-ABDC-22C9-C5DB-0494BEB8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836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352414-3211-CEB2-31A1-11097989D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934" y="723900"/>
            <a:ext cx="3503757" cy="531641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A26D20-54E1-2490-0D75-F08BCB7D3BF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82232" y="2053087"/>
            <a:ext cx="5903332" cy="3987230"/>
          </a:xfrm>
        </p:spPr>
        <p:txBody>
          <a:bodyPr anchor="t"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8A376F-AF56-AABE-DFA3-DE5A8C899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5467" y="723900"/>
            <a:ext cx="5790599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E9D420-BBEC-E7C6-7E76-FB9791C71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8005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AFB647-646C-4130-9EF5-C19C686B1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5000" y="738013"/>
            <a:ext cx="5676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2D6AD5-5357-463C-B785-6A488FFC8D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7007" y="817581"/>
            <a:ext cx="5935869" cy="5238159"/>
          </a:xfrm>
        </p:spPr>
        <p:txBody>
          <a:bodyPr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EAD023B5-9ABC-4D4A-A1AD-D4D83D6621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"/>
            <a:ext cx="4876799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0A0972-FD9A-4E9D-A0A3-BD0AF8C7B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5000" y="6134100"/>
            <a:ext cx="5676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930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0520" y="776873"/>
            <a:ext cx="5854182" cy="30705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Subtitle 11">
            <a:extLst>
              <a:ext uri="{FF2B5EF4-FFF2-40B4-BE49-F238E27FC236}">
                <a16:creationId xmlns:a16="http://schemas.microsoft.com/office/drawing/2014/main" id="{13C3C1EB-2C5B-4710-893A-9DD6284D5C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202" y="4088927"/>
            <a:ext cx="5842218" cy="18805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E335E712-C7FD-4BAC-B89C-58AF6594A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48768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1CC69-A0B0-C1BE-2165-D8AD1B7D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57867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54A957-6A3F-2C34-A453-905FBAE7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72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592" y="976997"/>
            <a:ext cx="11000208" cy="1239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4592" y="2244725"/>
            <a:ext cx="7814185" cy="4233713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276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39" y="684311"/>
            <a:ext cx="4058728" cy="2749009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EB8AC8C-DEDA-D180-1CD8-B67B47276E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7600" y="3662835"/>
            <a:ext cx="4064567" cy="246839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07756" y="4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insert picture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527B4D-405A-DCD2-6970-1162843E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4484" y="72103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3B79298-0F84-5214-4916-E9C0B4B46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423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591" y="976997"/>
            <a:ext cx="11000209" cy="11882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4593" y="2244725"/>
            <a:ext cx="5045105" cy="42337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/>
            </a:lvl1pPr>
            <a:lvl2pPr>
              <a:spcBef>
                <a:spcPts val="0"/>
              </a:spcBef>
              <a:spcAft>
                <a:spcPts val="1200"/>
              </a:spcAft>
              <a:defRPr sz="16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spcBef>
                <a:spcPts val="0"/>
              </a:spcBef>
              <a:spcAft>
                <a:spcPts val="1200"/>
              </a:spcAft>
              <a:defRPr sz="1200"/>
            </a:lvl4pPr>
            <a:lvl5pPr>
              <a:spcBef>
                <a:spcPts val="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12304" y="2244724"/>
            <a:ext cx="5322496" cy="42337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/>
            </a:lvl1pPr>
            <a:lvl2pPr>
              <a:spcBef>
                <a:spcPts val="0"/>
              </a:spcBef>
              <a:spcAft>
                <a:spcPts val="1200"/>
              </a:spcAft>
              <a:defRPr sz="16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spcBef>
                <a:spcPts val="0"/>
              </a:spcBef>
              <a:spcAft>
                <a:spcPts val="1200"/>
              </a:spcAft>
              <a:defRPr sz="1200"/>
            </a:lvl4pPr>
            <a:lvl5pPr>
              <a:spcBef>
                <a:spcPts val="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114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965" y="976999"/>
            <a:ext cx="11034713" cy="119685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826" y="2244725"/>
            <a:ext cx="2958075" cy="390426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07226" y="2244725"/>
            <a:ext cx="7353452" cy="391289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561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46" y="983901"/>
            <a:ext cx="5724786" cy="1198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C6D5E5-DE84-EC37-75DB-50DB75B5CD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0520" y="2244725"/>
            <a:ext cx="5724786" cy="379568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E335E712-C7FD-4BAC-B89C-58AF6594A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723899"/>
            <a:ext cx="4876800" cy="53165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1CC69-A0B0-C1BE-2165-D8AD1B7D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57867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669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4591" y="992528"/>
            <a:ext cx="10722817" cy="11882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C6D5E5-DE84-EC37-75DB-50DB75B5CD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43216" y="2244725"/>
            <a:ext cx="3277639" cy="390366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6DB8F81-B3A9-1D53-A844-F980B4ED20C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4406900" y="2244725"/>
            <a:ext cx="7061200" cy="39036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3A6849-B613-7080-903C-A7A211B7C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8017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87" y="985626"/>
            <a:ext cx="10703197" cy="117097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0087" y="2244725"/>
            <a:ext cx="7060200" cy="391289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45209" y="2244725"/>
            <a:ext cx="2958075" cy="390426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205FD8-58A9-6B91-010A-1870572FD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3995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3860" y="983902"/>
            <a:ext cx="10787370" cy="10519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6DB8F81-B3A9-1D53-A844-F980B4ED20C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706608" y="2244725"/>
            <a:ext cx="10761492" cy="39036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3A6849-B613-7080-903C-A7A211B7C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450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39" y="684311"/>
            <a:ext cx="4058728" cy="2749009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527B4D-405A-DCD2-6970-1162843E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4484" y="72103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621246-77E4-43F0-CD40-C7DB9555D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3726" y="6134059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EB8AC8C-DEDA-D180-1CD8-B67B47276E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7600" y="3662835"/>
            <a:ext cx="4064567" cy="246839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457200" indent="0">
              <a:spcBef>
                <a:spcPts val="0"/>
              </a:spcBef>
              <a:buNone/>
              <a:defRPr/>
            </a:lvl2pPr>
            <a:lvl3pPr marL="914400" indent="0">
              <a:spcBef>
                <a:spcPts val="0"/>
              </a:spcBef>
              <a:buNone/>
              <a:defRPr/>
            </a:lvl3pPr>
            <a:lvl4pPr marL="1371600" indent="0">
              <a:spcBef>
                <a:spcPts val="0"/>
              </a:spcBef>
              <a:buNone/>
              <a:defRPr/>
            </a:lvl4pPr>
            <a:lvl5pPr marL="182880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5230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4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Placeholder 13" descr="A person pouring liquid into a cup&#10;&#10;AI-generated content may be incorrect.">
            <a:extLst>
              <a:ext uri="{FF2B5EF4-FFF2-40B4-BE49-F238E27FC236}">
                <a16:creationId xmlns:a16="http://schemas.microsoft.com/office/drawing/2014/main" id="{975CC0D6-B1DF-FCDA-F41E-56F7EFA2D4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444"/>
          <a:stretch>
            <a:fillRect/>
          </a:stretch>
        </p:blipFill>
        <p:spPr>
          <a:xfrm>
            <a:off x="20" y="115029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9D8326-B701-CBE8-39AA-6C700DA4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37" y="656099"/>
            <a:ext cx="5024168" cy="53948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THE SIGNIFICANCE OF MURSIK IN KALENJIN CULTURE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2324943-A9E8-6BAE-73B3-5126841CA36B}"/>
              </a:ext>
            </a:extLst>
          </p:cNvPr>
          <p:cNvSpPr txBox="1"/>
          <p:nvPr/>
        </p:nvSpPr>
        <p:spPr>
          <a:xfrm>
            <a:off x="822960" y="5273040"/>
            <a:ext cx="37795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PRESENTED  BY :WILLIN BROAD KIPLIMO</a:t>
            </a:r>
          </a:p>
        </p:txBody>
      </p:sp>
    </p:spTree>
    <p:extLst>
      <p:ext uri="{BB962C8B-B14F-4D97-AF65-F5344CB8AC3E}">
        <p14:creationId xmlns:p14="http://schemas.microsoft.com/office/powerpoint/2010/main" val="2922288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8BEF5F-00BC-5BA7-C0E2-94A5C1FC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871758"/>
            <a:ext cx="5227171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</a:pPr>
            <a:r>
              <a:rPr lang="en-US" sz="3400"/>
              <a:t>Mursik is a traditional drink of the Kalenjin people of Kenya, made from cow or goat milk fermented in a gourd lined with soot and charcoal.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04B33-D318-3996-C015-EA857670ABFF}"/>
              </a:ext>
            </a:extLst>
          </p:cNvPr>
          <p:cNvSpPr txBox="1"/>
          <p:nvPr/>
        </p:nvSpPr>
        <p:spPr>
          <a:xfrm>
            <a:off x="721688" y="4785543"/>
            <a:ext cx="4857857" cy="100565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000" b="1" u="sng" cap="all"/>
              <a:t>WHAT IS MURSIK?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person pouring a liquid into a mug&#10;&#10;AI-generated content may be incorrect.">
            <a:extLst>
              <a:ext uri="{FF2B5EF4-FFF2-40B4-BE49-F238E27FC236}">
                <a16:creationId xmlns:a16="http://schemas.microsoft.com/office/drawing/2014/main" id="{59682A99-7ADA-A42D-E316-7562548D597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t="5870" b="5870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28192-0728-892D-258C-A8F14C65D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81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0417AF4-08C0-FC51-8823-C041945D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u="sng"/>
              <a:t>The Science of Preparation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CFBC48E-A948-536F-F7A4-BD26A48B2F34}"/>
              </a:ext>
            </a:extLst>
          </p:cNvPr>
          <p:cNvSpPr txBox="1"/>
          <p:nvPr/>
        </p:nvSpPr>
        <p:spPr>
          <a:xfrm>
            <a:off x="704088" y="2387600"/>
            <a:ext cx="3799763" cy="37673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The </a:t>
            </a:r>
            <a:r>
              <a:rPr lang="en-US" b="1" dirty="0" err="1"/>
              <a:t>Sotet</a:t>
            </a:r>
            <a:r>
              <a:rPr lang="en-US" b="1" dirty="0"/>
              <a:t>:</a:t>
            </a:r>
            <a:r>
              <a:rPr lang="en-US" dirty="0"/>
              <a:t> A gourd prepared specifically for milk storage.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The Cleaning:</a:t>
            </a:r>
            <a:r>
              <a:rPr lang="en-US" dirty="0"/>
              <a:t> The gourd is cleaned using a burning stick (</a:t>
            </a:r>
            <a:r>
              <a:rPr lang="en-US" i="1" dirty="0" err="1"/>
              <a:t>Sosusiek</a:t>
            </a:r>
            <a:r>
              <a:rPr lang="en-US" dirty="0"/>
              <a:t>).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Botany:</a:t>
            </a:r>
            <a:r>
              <a:rPr lang="en-US" dirty="0"/>
              <a:t> The stick comes from specific trees like </a:t>
            </a:r>
            <a:r>
              <a:rPr lang="en-US" i="1" dirty="0"/>
              <a:t>Cassia </a:t>
            </a:r>
            <a:r>
              <a:rPr lang="en-US" i="1" dirty="0" err="1"/>
              <a:t>didymobotrya</a:t>
            </a:r>
            <a:r>
              <a:rPr lang="en-US" dirty="0"/>
              <a:t> (</a:t>
            </a:r>
            <a:r>
              <a:rPr lang="en-US" dirty="0" err="1"/>
              <a:t>Senetwet</a:t>
            </a:r>
            <a:r>
              <a:rPr lang="en-US" dirty="0"/>
              <a:t>) or </a:t>
            </a:r>
            <a:r>
              <a:rPr lang="en-US" i="1" dirty="0"/>
              <a:t>Lantana </a:t>
            </a:r>
            <a:r>
              <a:rPr lang="en-US" i="1" dirty="0" err="1"/>
              <a:t>kituiensis</a:t>
            </a:r>
            <a:r>
              <a:rPr lang="en-US" dirty="0"/>
              <a:t>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5" name="Picture Placeholder 16" descr="A close up of a plant&#10;&#10;AI-generated content may be incorrect.">
            <a:extLst>
              <a:ext uri="{FF2B5EF4-FFF2-40B4-BE49-F238E27FC236}">
                <a16:creationId xmlns:a16="http://schemas.microsoft.com/office/drawing/2014/main" id="{91CDF817-5DD8-B6A6-422E-3161F6D60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3476" r="8439" b="-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6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F347C-8A1B-BF12-BB7D-630B13F38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871758"/>
            <a:ext cx="5227171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 u="sng"/>
              <a:t>The Chemistry of Fermentation</a:t>
            </a:r>
            <a:br>
              <a:rPr lang="en-US" sz="2200" b="1" u="sng"/>
            </a:br>
            <a:endParaRPr lang="en-US" sz="2200" b="1" u="sng"/>
          </a:p>
          <a:p>
            <a:pPr marL="342900" indent="-342900">
              <a:lnSpc>
                <a:spcPct val="90000"/>
              </a:lnSpc>
            </a:pPr>
            <a:r>
              <a:rPr lang="en-US" sz="2200" b="1" dirty="0"/>
              <a:t>reservation:</a:t>
            </a:r>
            <a:r>
              <a:rPr lang="en-US" sz="2200" dirty="0"/>
              <a:t> The charcoal acts as activated carbon, absorbing impurities.</a:t>
            </a:r>
            <a:endParaRPr lang="en-US" sz="2200"/>
          </a:p>
          <a:p>
            <a:pPr marL="342900" indent="-342900">
              <a:lnSpc>
                <a:spcPct val="90000"/>
              </a:lnSpc>
            </a:pPr>
            <a:r>
              <a:rPr lang="en-US" sz="2200" b="1" dirty="0"/>
              <a:t>Pasteurization:</a:t>
            </a:r>
            <a:r>
              <a:rPr lang="en-US" sz="2200" dirty="0"/>
              <a:t> Traditional boiling of milk kills harmful bacteria.</a:t>
            </a:r>
            <a:endParaRPr lang="en-US" sz="2200"/>
          </a:p>
          <a:p>
            <a:pPr marL="342900" indent="-342900">
              <a:lnSpc>
                <a:spcPct val="90000"/>
              </a:lnSpc>
            </a:pPr>
            <a:r>
              <a:rPr lang="en-US" sz="2200" b="1" dirty="0"/>
              <a:t>Culturing:</a:t>
            </a:r>
            <a:r>
              <a:rPr lang="en-US" sz="2200" dirty="0"/>
              <a:t> The milk ferments for 3–5 days, creating lactic acid which preserves the milk naturally.</a:t>
            </a:r>
            <a:endParaRPr lang="en-US" sz="2200"/>
          </a:p>
          <a:p>
            <a:pPr>
              <a:lnSpc>
                <a:spcPct val="90000"/>
              </a:lnSpc>
            </a:pPr>
            <a:endParaRPr lang="en-US" sz="220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Placeholder 3" descr="A person pouring liquid into a cup&#10;&#10;AI-generated content may be incorrect.">
            <a:extLst>
              <a:ext uri="{FF2B5EF4-FFF2-40B4-BE49-F238E27FC236}">
                <a16:creationId xmlns:a16="http://schemas.microsoft.com/office/drawing/2014/main" id="{3DC8139A-4431-8059-D1EA-B2576DD045F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3117" r="20528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82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3DA4389-68C0-85F6-96CE-C383BAF9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u="sng"/>
              <a:t>Social Significance: Marriage (Koito)</a:t>
            </a:r>
            <a:endParaRPr lang="en-US" sz="40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2A4BB-EBAC-A965-82D8-1198A802BA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0088" y="2235251"/>
            <a:ext cx="5958216" cy="37131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/>
              <a:t>The Negotiation:</a:t>
            </a:r>
            <a:r>
              <a:rPr lang="en-US"/>
              <a:t> During dowry talks (</a:t>
            </a:r>
            <a:r>
              <a:rPr lang="en-US" i="1"/>
              <a:t>Koito</a:t>
            </a:r>
            <a:r>
              <a:rPr lang="en-US"/>
              <a:t>), Mursik is the centerpiece.</a:t>
            </a:r>
            <a:endParaRPr lang="en-US" dirty="0"/>
          </a:p>
          <a:p>
            <a:r>
              <a:rPr lang="en-US" b="1"/>
              <a:t>The Symbolism:</a:t>
            </a:r>
            <a:r>
              <a:rPr lang="en-US"/>
              <a:t> Sharing Mursik symbolizes the agreement between two clans.</a:t>
            </a:r>
            <a:endParaRPr lang="en-US" dirty="0"/>
          </a:p>
          <a:p>
            <a:r>
              <a:rPr lang="en-US" b="1"/>
              <a:t>The Ritual:</a:t>
            </a:r>
            <a:r>
              <a:rPr lang="en-US"/>
              <a:t> If the bride's father drinks the Mursik, the marriage is approved.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group of people sitting in a crowd&#10;&#10;AI-generated content may be incorrect.">
            <a:extLst>
              <a:ext uri="{FF2B5EF4-FFF2-40B4-BE49-F238E27FC236}">
                <a16:creationId xmlns:a16="http://schemas.microsoft.com/office/drawing/2014/main" id="{2B58EEDC-5983-CAE5-A96A-55F2BA8DD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422" y="719455"/>
            <a:ext cx="4364672" cy="299912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oup of people standing in a line&#10;&#10;AI-generated content may be incorrect.">
            <a:extLst>
              <a:ext uri="{FF2B5EF4-FFF2-40B4-BE49-F238E27FC236}">
                <a16:creationId xmlns:a16="http://schemas.microsoft.com/office/drawing/2014/main" id="{78953414-C3C9-ECD8-0248-E45F9514E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634" y="3729144"/>
            <a:ext cx="4479266" cy="246985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941DE2-1E04-BCDD-5770-8991998B6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5330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E82A33-7ED3-A4A3-7E06-B568D6D1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09637"/>
            <a:ext cx="4800600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Social Significance: Athletes &amp; Heroes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6451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77958E-E73E-C5A9-C0E3-3DD9808453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4089" y="2221992"/>
            <a:ext cx="4800600" cy="373989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 noProof="1"/>
              <a:t>The Homecoming:</a:t>
            </a:r>
            <a:r>
              <a:rPr lang="en-US" noProof="1"/>
              <a:t> Returning athletes are greeted with Mursik at the airport.</a:t>
            </a:r>
            <a:endParaRPr lang="en-US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 noProof="1"/>
              <a:t>Identity:</a:t>
            </a:r>
            <a:r>
              <a:rPr lang="en-US" noProof="1"/>
              <a:t> It reconnects global stars with their local roots.</a:t>
            </a:r>
            <a:endParaRPr lang="en-US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 noProof="1"/>
              <a:t>Resilience:</a:t>
            </a:r>
            <a:r>
              <a:rPr lang="en-US" noProof="1"/>
              <a:t> It symbolizes the strength and endurance of the community.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 noProof="1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46451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Placeholder 33" descr="A statue of a person pouring water into a fountain&#10;&#10;AI-generated content may be incorrect.">
            <a:extLst>
              <a:ext uri="{FF2B5EF4-FFF2-40B4-BE49-F238E27FC236}">
                <a16:creationId xmlns:a16="http://schemas.microsoft.com/office/drawing/2014/main" id="{C87A0E87-E987-D779-B17A-3A89F2E6F37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403" r="28242"/>
          <a:stretch>
            <a:fillRect/>
          </a:stretch>
        </p:blipFill>
        <p:spPr>
          <a:xfrm>
            <a:off x="5529590" y="10"/>
            <a:ext cx="666241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FE95-42FD-9AB0-913D-DFE3A18A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4729"/>
            <a:ext cx="4206240" cy="18215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Rites of Passage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19EF34C-5622-413F-9C9F-AC937E306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D9D89-0B97-5577-308E-9F320E5DC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1257" y="909236"/>
            <a:ext cx="7554538" cy="18170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noProof="1"/>
              <a:t>Initiation:</a:t>
            </a:r>
            <a:r>
              <a:rPr lang="en-US" noProof="1"/>
              <a:t> Mursik is served during initiation ceremonies (</a:t>
            </a:r>
            <a:r>
              <a:rPr lang="en-US" i="1" noProof="1"/>
              <a:t>Tumdo</a:t>
            </a:r>
            <a:r>
              <a:rPr lang="en-US" noProof="1"/>
              <a:t>).</a:t>
            </a:r>
            <a:endParaRPr lang="en-US" dirty="0"/>
          </a:p>
          <a:p>
            <a:r>
              <a:rPr lang="en-US" b="1" noProof="1"/>
              <a:t>Recovery:</a:t>
            </a:r>
            <a:r>
              <a:rPr lang="en-US" noProof="1"/>
              <a:t> It is considered a restorative food for initiates healing after the process.</a:t>
            </a:r>
            <a:endParaRPr lang="en-US" dirty="0"/>
          </a:p>
          <a:p>
            <a:endParaRPr lang="en-US" noProof="1"/>
          </a:p>
        </p:txBody>
      </p:sp>
      <p:pic>
        <p:nvPicPr>
          <p:cNvPr id="9" name="Picture 8" descr="A group of men drinking from a bottle&#10;&#10;AI-generated content may be incorrect.">
            <a:extLst>
              <a:ext uri="{FF2B5EF4-FFF2-40B4-BE49-F238E27FC236}">
                <a16:creationId xmlns:a16="http://schemas.microsoft.com/office/drawing/2014/main" id="{359779E6-A0E3-477A-313A-CD9DD7822F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783" b="33"/>
          <a:stretch>
            <a:fillRect/>
          </a:stretch>
        </p:blipFill>
        <p:spPr>
          <a:xfrm>
            <a:off x="225006" y="2717322"/>
            <a:ext cx="5709084" cy="3355776"/>
          </a:xfrm>
          <a:prstGeom prst="rect">
            <a:avLst/>
          </a:prstGeom>
        </p:spPr>
      </p:pic>
      <p:pic>
        <p:nvPicPr>
          <p:cNvPr id="7" name="Content Placeholder 6" descr="A group of large pots with plants on them&#10;&#10;AI-generated content may be incorrect.">
            <a:extLst>
              <a:ext uri="{FF2B5EF4-FFF2-40B4-BE49-F238E27FC236}">
                <a16:creationId xmlns:a16="http://schemas.microsoft.com/office/drawing/2014/main" id="{2A7592D1-9227-865E-25B4-440ABADE7C9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/>
          <a:srcRect t="2985" r="2" b="12496"/>
          <a:stretch>
            <a:fillRect/>
          </a:stretch>
        </p:blipFill>
        <p:spPr>
          <a:xfrm>
            <a:off x="6209622" y="2731698"/>
            <a:ext cx="5742994" cy="334140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549954-3C0C-48B7-9BE6-9B32C39D0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C99EE-15DF-A164-D7A5-05B6D09C8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5619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6E1DE-D988-960C-DAB5-9F76114B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Relevance  to Modern Society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4A257E-4735-6F03-8A06-72A76A187F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Cultural Identity:</a:t>
            </a:r>
            <a:r>
              <a:rPr lang="en-US" b="0"/>
              <a:t> In a globalized world, Mursik remains a distinct marker of Kalenjin heritage.</a:t>
            </a:r>
            <a:endParaRPr lang="en-US"/>
          </a:p>
          <a:p>
            <a:r>
              <a:rPr lang="en-US"/>
              <a:t>Health:</a:t>
            </a:r>
            <a:r>
              <a:rPr lang="en-US" b="0"/>
              <a:t> It is a probiotic, rich in healthy bacteria for digestion.</a:t>
            </a:r>
            <a:endParaRPr lang="en-US" dirty="0"/>
          </a:p>
          <a:p>
            <a:endParaRPr lang="en-US" dirty="0"/>
          </a:p>
        </p:txBody>
      </p:sp>
      <p:pic>
        <p:nvPicPr>
          <p:cNvPr id="6" name="Content Placeholder 5" descr="A statue of a person pouring water into a fountain&#10;&#10;AI-generated content may be incorrect.">
            <a:extLst>
              <a:ext uri="{FF2B5EF4-FFF2-40B4-BE49-F238E27FC236}">
                <a16:creationId xmlns:a16="http://schemas.microsoft.com/office/drawing/2014/main" id="{B362869C-6100-960E-392D-E9A696F7E41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rcRect l="13524" r="19364" b="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2643B0-B668-8150-0AAC-AFA1C4310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7523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4025A9-7726-7F83-4A59-6CF84E4B9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7336" y="952499"/>
            <a:ext cx="5367528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Challenges &amp; Preservation</a:t>
            </a:r>
          </a:p>
        </p:txBody>
      </p:sp>
      <p:pic>
        <p:nvPicPr>
          <p:cNvPr id="8" name="Picture Placeholder 12" descr="A close-up of a plant&#10;&#10;AI-generated content may be incorrect.">
            <a:extLst>
              <a:ext uri="{FF2B5EF4-FFF2-40B4-BE49-F238E27FC236}">
                <a16:creationId xmlns:a16="http://schemas.microsoft.com/office/drawing/2014/main" id="{4AA23396-D2B1-1CF5-8AD7-3F6BEDAE92D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4495" r="-2" b="24493"/>
          <a:stretch>
            <a:fillRect/>
          </a:stretch>
        </p:blipFill>
        <p:spPr>
          <a:xfrm>
            <a:off x="154" y="10"/>
            <a:ext cx="5579379" cy="342899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2289" y="722376"/>
            <a:ext cx="1562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oup of large pots with plants on them&#10;&#10;AI-generated content may be incorrect.">
            <a:extLst>
              <a:ext uri="{FF2B5EF4-FFF2-40B4-BE49-F238E27FC236}">
                <a16:creationId xmlns:a16="http://schemas.microsoft.com/office/drawing/2014/main" id="{D87E5439-9E88-AA31-A1EA-4E951A6486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" b="1663"/>
          <a:stretch>
            <a:fillRect/>
          </a:stretch>
        </p:blipFill>
        <p:spPr>
          <a:xfrm>
            <a:off x="154" y="3429000"/>
            <a:ext cx="5579379" cy="34290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D1EAF7-58DB-398E-A0A7-0514B6F330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17336" y="2269235"/>
            <a:ext cx="5367528" cy="403935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The Threat:</a:t>
            </a:r>
            <a:r>
              <a:rPr lang="en-US" dirty="0"/>
              <a:t> Plastic bottles are replacing the </a:t>
            </a:r>
            <a:r>
              <a:rPr lang="en-US" i="1" dirty="0" err="1"/>
              <a:t>Sotet</a:t>
            </a:r>
            <a:r>
              <a:rPr lang="en-US" dirty="0"/>
              <a:t> gourd.</a:t>
            </a:r>
          </a:p>
          <a:p>
            <a:r>
              <a:rPr lang="en-US" b="1"/>
              <a:t>Deforestation:</a:t>
            </a:r>
            <a:r>
              <a:rPr lang="en-US"/>
              <a:t> The specific trees needed for the charcoal are becoming scarce.</a:t>
            </a:r>
            <a:endParaRPr lang="en-US" dirty="0"/>
          </a:p>
          <a:p>
            <a:r>
              <a:rPr lang="en-US" b="1"/>
              <a:t>The Solution:</a:t>
            </a:r>
            <a:r>
              <a:rPr lang="en-US"/>
              <a:t> Promoting the planting of indigenous trees and teaching the traditional process to the youth.</a:t>
            </a:r>
            <a:endParaRPr lang="en-US" dirty="0"/>
          </a:p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A137E53-FBD3-20BC-7B61-06C47E634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53150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796C4E-41C8-0AB3-6886-FBB7C569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Conclusion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E39F92-B979-41AB-0918-CE4FADCA0D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</a:t>
            </a:r>
            <a:r>
              <a:rPr lang="en-US" sz="2400" dirty="0" err="1"/>
              <a:t>Mursik</a:t>
            </a:r>
            <a:r>
              <a:rPr lang="en-US" sz="2400" dirty="0"/>
              <a:t> is more than a drink; it is a social contract and a historical record.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Final Thought:</a:t>
            </a:r>
            <a:r>
              <a:rPr lang="en-US" sz="2400" dirty="0"/>
              <a:t> Preserving the </a:t>
            </a:r>
            <a:r>
              <a:rPr lang="en-US" sz="2400" i="1" dirty="0"/>
              <a:t>process</a:t>
            </a:r>
            <a:r>
              <a:rPr lang="en-US" sz="2400" dirty="0"/>
              <a:t> is just as important as preserving the </a:t>
            </a:r>
            <a:r>
              <a:rPr lang="en-US" sz="2400" i="1" dirty="0"/>
              <a:t>taste</a:t>
            </a:r>
            <a:r>
              <a:rPr lang="en-US" sz="2400" dirty="0"/>
              <a:t>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2" name="Picture 1" descr="A group of men drinking from a bottle&#10;&#10;AI-generated content may be incorrect.">
            <a:extLst>
              <a:ext uri="{FF2B5EF4-FFF2-40B4-BE49-F238E27FC236}">
                <a16:creationId xmlns:a16="http://schemas.microsoft.com/office/drawing/2014/main" id="{A0A206F5-A429-E6C6-CD70-3B77B8290F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88" r="17008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9636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DEC8C5-155D-4CD7-98CB-88A657420A1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95FE3D2-AB53-4F3D-8791-B4AA764B47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57736A-C21D-40FD-9C3B-2A541E56B2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ChronicleVTI</Template>
  <TotalTime>0</TotalTime>
  <Words>479</Words>
  <Application>Microsoft Office PowerPoint</Application>
  <PresentationFormat>Widescreen</PresentationFormat>
  <Paragraphs>125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ChronicleVTI</vt:lpstr>
      <vt:lpstr>THE SIGNIFICANCE OF MURSIK IN KALENJIN CULTURE</vt:lpstr>
      <vt:lpstr>Mursik is a traditional drink of the Kalenjin people of Kenya, made from cow or goat milk fermented in a gourd lined with soot and charcoal.</vt:lpstr>
      <vt:lpstr>The Science of Preparation</vt:lpstr>
      <vt:lpstr>The Chemistry of Fermentation  reservation: The charcoal acts as activated carbon, absorbing impurities. Pasteurization: Traditional boiling of milk kills harmful bacteria. Culturing: The milk ferments for 3–5 days, creating lactic acid which preserves the milk naturally. </vt:lpstr>
      <vt:lpstr>Social Significance: Marriage (Koito)</vt:lpstr>
      <vt:lpstr>Social Significance: Athletes &amp; Heroes</vt:lpstr>
      <vt:lpstr>Rites of Passage</vt:lpstr>
      <vt:lpstr>Relevance  to Modern Society</vt:lpstr>
      <vt:lpstr>Challenges &amp; Preservation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218</cp:revision>
  <dcterms:created xsi:type="dcterms:W3CDTF">2025-12-15T06:57:07Z</dcterms:created>
  <dcterms:modified xsi:type="dcterms:W3CDTF">2026-01-25T12:13:30Z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
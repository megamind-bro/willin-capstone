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4"/>
    <p:sldMasterId id="2147483650" r:id="rId5"/>
  </p:sldMasterIdLst>
  <p:notesMasterIdLst>
    <p:notesMasterId r:id="rId16"/>
  </p:notesMasterIdLst>
  <p:handoutMasterIdLst>
    <p:handoutMasterId r:id="rId17"/>
  </p:handoutMasterIdLst>
  <p:sldIdLst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3DE43-DB20-4C04-99CA-A3F3BA8D7D97}" v="208" dt="2026-01-25T16:54:54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51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73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36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38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45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9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01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12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29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59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876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46" r:id="rId6"/>
    <p:sldLayoutId id="2147483842" r:id="rId7"/>
    <p:sldLayoutId id="2147483843" r:id="rId8"/>
    <p:sldLayoutId id="2147483844" r:id="rId9"/>
    <p:sldLayoutId id="2147483845" r:id="rId10"/>
    <p:sldLayoutId id="21474838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Echoes of the Escarpment: An Autobiography of Resilience and Innovation</a:t>
            </a:r>
          </a:p>
        </p:txBody>
      </p:sp>
      <p:sp>
        <p:nvSpPr>
          <p:cNvPr id="3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7039" y="381935"/>
            <a:ext cx="4685916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/>
              <a:t>Presenter:</a:t>
            </a:r>
            <a:r>
              <a:rPr lang="en-US" sz="1800"/>
              <a:t> Willin Broad Kiplimo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/>
              <a:t>Reg No:</a:t>
            </a:r>
            <a:r>
              <a:rPr lang="en-US" sz="1800"/>
              <a:t> CO25-01-0880/2022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/>
              <a:t>Course:</a:t>
            </a:r>
            <a:r>
              <a:rPr lang="en-US" sz="1800"/>
              <a:t> Bachelor of Science in Information Technology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/>
              <a:t>Institution:</a:t>
            </a:r>
            <a:r>
              <a:rPr lang="en-US" sz="1800"/>
              <a:t> Dedan Kimathi University of Technology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97AC-6888-F710-75BD-78EE8DC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Capstone project</a:t>
            </a:r>
          </a:p>
        </p:txBody>
      </p:sp>
      <p:sp>
        <p:nvSpPr>
          <p:cNvPr id="3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274F5D-21DC-40EF-8DBA-AB9BB119E939}" type="slidenum">
              <a:rPr lang="en-US">
                <a:solidFill>
                  <a:schemeClr val="accent2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91D57-65D9-7315-C6E4-DBA8F9BD8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" y="554462"/>
            <a:ext cx="5776997" cy="2768265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  <a:ea typeface="+mj-lt"/>
                <a:cs typeface="+mj-lt"/>
              </a:rPr>
              <a:t>Introduction – The Geography of Worldview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53C7E-B641-51B7-45AC-F6528CCD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4986955" cy="5974415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ea typeface="+mn-lt"/>
                <a:cs typeface="+mn-lt"/>
              </a:rPr>
              <a:t>Theme:</a:t>
            </a:r>
            <a:r>
              <a:rPr lang="en-US" sz="1800" dirty="0">
                <a:ea typeface="+mn-lt"/>
                <a:cs typeface="+mn-lt"/>
              </a:rPr>
              <a:t> "The geography of one's birth often dictates the geometry of their worldview." 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Setting the Scene: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Born in Iten (2,400m above sea level). 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The environment: Thin air that demands endurance and thickens the blood. </a:t>
            </a:r>
            <a:endParaRPr lang="en-US" dirty="0"/>
          </a:p>
          <a:p>
            <a:r>
              <a:rPr lang="en-US" sz="1800" b="1" dirty="0">
                <a:ea typeface="+mn-lt"/>
                <a:cs typeface="+mn-lt"/>
              </a:rPr>
              <a:t>The Metaphor:</a:t>
            </a:r>
            <a:r>
              <a:rPr lang="en-US" sz="1800" dirty="0">
                <a:ea typeface="+mn-lt"/>
                <a:cs typeface="+mn-lt"/>
              </a:rPr>
              <a:t> Life lived between the grounding reality of the homestead and the dizzying potential of the Great Rift Valley. </a:t>
            </a:r>
            <a:endParaRPr lang="en-US" dirty="0"/>
          </a:p>
          <a:p>
            <a:r>
              <a:rPr lang="en-US" sz="1800" b="1" dirty="0">
                <a:ea typeface="+mn-lt"/>
                <a:cs typeface="+mn-lt"/>
              </a:rPr>
              <a:t>Key Takeaway:</a:t>
            </a:r>
            <a:r>
              <a:rPr lang="en-US" sz="1800" dirty="0">
                <a:ea typeface="+mn-lt"/>
                <a:cs typeface="+mn-lt"/>
              </a:rPr>
              <a:t> Normalizing the extraordinary—greatness (Olympians) was not seen on TV, but seen daily as neighbors training at dawn. </a:t>
            </a:r>
            <a:endParaRPr lang="en-US" dirty="0"/>
          </a:p>
          <a:p>
            <a:endParaRPr lang="en-US" sz="1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490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B2AD4-450B-D71B-7041-C6A38BC5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 fontScale="90000"/>
          </a:bodyPr>
          <a:lstStyle/>
          <a:p>
            <a:r>
              <a:rPr lang="en-US" sz="6600" b="1" u="sng" dirty="0">
                <a:ea typeface="+mj-lt"/>
                <a:cs typeface="+mj-lt"/>
              </a:rPr>
              <a:t>Foundations – Authority &amp; Economy (2003–2005)</a:t>
            </a:r>
            <a:endParaRPr lang="en-US" b="1" u="sng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6998-2685-143C-92EA-721F93CD1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The Silent Authority (Father - Vincent Kemboi):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Commanded respect through silence and presence, not volume.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Taught that authority is about "measured words." 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The Economic Engine (Mother - Monicah Kemboi):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Defined by financial elasticity and practical solutions.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Philosophy: If broken, fix it; if empty, fill it. 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The Lesson:</a:t>
            </a:r>
            <a:r>
              <a:rPr lang="en-US" sz="2400" dirty="0">
                <a:ea typeface="+mn-lt"/>
                <a:cs typeface="+mn-lt"/>
              </a:rPr>
              <a:t> Productivity was the language of the household. </a:t>
            </a:r>
            <a:endParaRPr lang="en-US" sz="2400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6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9C851-E8A0-D8BD-B1AC-9733D338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66" y="51255"/>
            <a:ext cx="10326227" cy="1812879"/>
          </a:xfrm>
        </p:spPr>
        <p:txBody>
          <a:bodyPr anchor="b">
            <a:normAutofit fontScale="90000"/>
          </a:bodyPr>
          <a:lstStyle/>
          <a:p>
            <a:r>
              <a:rPr lang="en-US" sz="7200" b="1" u="sng" dirty="0">
                <a:ea typeface="+mj-lt"/>
                <a:cs typeface="+mj-lt"/>
              </a:rPr>
              <a:t>The Crucible – Loss &amp; Resilience (2006–2017)</a:t>
            </a:r>
            <a:endParaRPr lang="en-US" b="1" u="sng"/>
          </a:p>
        </p:txBody>
      </p:sp>
      <p:sp>
        <p:nvSpPr>
          <p:cNvPr id="21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336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4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5951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4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94200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4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0978CBD-7E05-48E6-2B81-BA7097DDE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82" y="2357587"/>
            <a:ext cx="10702504" cy="403503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The Academic Grind: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Transition to Hill School, Eldoret: 5:30 AM wake-ups and the 8-4-4 system.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Academic Profile: Gifted in Math/Physics, struggled with Handwriting and Humanities (Rote memorization). 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The Turning Point (2017):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The Event:</a:t>
            </a:r>
            <a:r>
              <a:rPr lang="en-US" dirty="0">
                <a:ea typeface="+mn-lt"/>
                <a:cs typeface="+mn-lt"/>
              </a:rPr>
              <a:t> Father passed away in a road accident while Willin was in Class 8.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The Impact:</a:t>
            </a:r>
            <a:r>
              <a:rPr lang="en-US" dirty="0">
                <a:ea typeface="+mn-lt"/>
                <a:cs typeface="+mn-lt"/>
              </a:rPr>
              <a:t> The "perfect trajectory" shattered; replaced by a financial and emotional vacuum.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The Response:</a:t>
            </a:r>
            <a:r>
              <a:rPr lang="en-US" dirty="0">
                <a:ea typeface="+mn-lt"/>
                <a:cs typeface="+mn-lt"/>
              </a:rPr>
              <a:t> Grief channeled into "frantic, dedicated study" as a debt to be paid.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Result:</a:t>
            </a:r>
            <a:r>
              <a:rPr lang="en-US" dirty="0">
                <a:ea typeface="+mn-lt"/>
                <a:cs typeface="+mn-lt"/>
              </a:rPr>
              <a:t> Secured admission to St. Patrick’s High School.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527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F03C-B194-58DA-63C5-61BC07BE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63222" cy="1325563"/>
          </a:xfrm>
        </p:spPr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The Monastery of Discipline (2018–2022)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8251F-77AB-27C2-E81C-DB08807E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St. Patrick’s High School ("Saints"):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 "academic brotherhood" defined by biting cold and harsh discipline. 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The Routine: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4:30 AM wake-up calls.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"Wake, study, eat, study, sleep."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Academic Divergence: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Rejected History/Geography (The "When/Where").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Embraced Physics/Math (The "How/Why")—logic and predictable solutions.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3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D0EE0-00BC-1051-4576-160F9EE5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b="1" u="sng" dirty="0"/>
              <a:t>The Stagnation &amp; The Farm (2020)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6F6D-B00F-8A3E-15DC-9ECF55301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The Disruption: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COVID-10 pandemic caused a "systemic disruption" and the loss of an academic year. 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The Shift: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Transitioned from student to farmhand/son. </a:t>
            </a:r>
            <a:endParaRPr lang="en-US" sz="2000"/>
          </a:p>
          <a:p>
            <a:pPr lvl="1"/>
            <a:r>
              <a:rPr lang="en-US" sz="2000" b="1" dirty="0">
                <a:ea typeface="+mn-lt"/>
                <a:cs typeface="+mn-lt"/>
              </a:rPr>
              <a:t>Lesson from the Soil:</a:t>
            </a:r>
            <a:r>
              <a:rPr lang="en-US" sz="2000" dirty="0">
                <a:ea typeface="+mn-lt"/>
                <a:cs typeface="+mn-lt"/>
              </a:rPr>
              <a:t> Unlike a math problem, crops cannot be rushed. "You plant, you water, you wait." </a:t>
            </a:r>
            <a:endParaRPr lang="en-US" sz="2000"/>
          </a:p>
          <a:p>
            <a:r>
              <a:rPr lang="en-US" sz="2000" b="1" dirty="0">
                <a:ea typeface="+mn-lt"/>
                <a:cs typeface="+mn-lt"/>
              </a:rPr>
              <a:t>The Crash Program:</a:t>
            </a:r>
            <a:endParaRPr lang="en-US" sz="2000"/>
          </a:p>
          <a:p>
            <a:pPr lvl="1"/>
            <a:r>
              <a:rPr lang="en-US" sz="2000" dirty="0">
                <a:ea typeface="+mn-lt"/>
                <a:cs typeface="+mn-lt"/>
              </a:rPr>
              <a:t>Returned to a sterilized, masked environment. 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Faced KCSE alone without parents (Prayer Days cancelled). </a:t>
            </a:r>
            <a:endParaRPr lang="en-US" sz="20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7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64A03-0A5A-FC31-98D5-635D6391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352" y="195028"/>
            <a:ext cx="9909285" cy="1985407"/>
          </a:xfrm>
        </p:spPr>
        <p:txBody>
          <a:bodyPr anchor="b">
            <a:noAutofit/>
          </a:bodyPr>
          <a:lstStyle/>
          <a:p>
            <a:r>
              <a:rPr lang="en-US" sz="6000" b="1" u="sng" dirty="0">
                <a:ea typeface="+mj-lt"/>
                <a:cs typeface="+mj-lt"/>
              </a:rPr>
              <a:t>The Ascent to Nyeri – Adaptation (2023–Present)</a:t>
            </a:r>
            <a:endParaRPr lang="en-US" sz="6000" b="1" u="sng"/>
          </a:p>
        </p:txBody>
      </p:sp>
      <p:sp>
        <p:nvSpPr>
          <p:cNvPr id="1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336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4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5951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4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94200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4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7317-46A2-8970-09F0-673686303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84" y="2542948"/>
            <a:ext cx="10412493" cy="33842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DeKUT</a:t>
            </a:r>
            <a:r>
              <a:rPr lang="en-US" sz="2400" b="1" dirty="0">
                <a:ea typeface="+mn-lt"/>
                <a:cs typeface="+mn-lt"/>
              </a:rPr>
              <a:t>: A Cultural &amp; Climatic Shock: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Moved from the dry cold of Iten to the unpredictable weather of Nyeri (Leeward/Windward axis). </a:t>
            </a:r>
            <a:endParaRPr lang="en-US" sz="2000"/>
          </a:p>
          <a:p>
            <a:r>
              <a:rPr lang="en-US" sz="2400" b="1" dirty="0">
                <a:ea typeface="+mn-lt"/>
                <a:cs typeface="+mn-lt"/>
              </a:rPr>
              <a:t>The Weather Metaphor: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Caught in a sudden downpour at 2:00 PM; sun shining by 5:00 PM. </a:t>
            </a:r>
            <a:endParaRPr lang="en-US" sz="2000"/>
          </a:p>
          <a:p>
            <a:r>
              <a:rPr lang="en-US" sz="2400" b="1" dirty="0">
                <a:ea typeface="+mn-lt"/>
                <a:cs typeface="+mn-lt"/>
              </a:rPr>
              <a:t>Lesson: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"Devastation is often quickly followed by unexpected clarity." </a:t>
            </a:r>
            <a:endParaRPr lang="en-US" sz="2000"/>
          </a:p>
          <a:p>
            <a:r>
              <a:rPr lang="en-US" sz="2400" b="1" dirty="0">
                <a:ea typeface="+mn-lt"/>
                <a:cs typeface="+mn-lt"/>
              </a:rPr>
              <a:t>The Campus: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A sanctuary bordering the forest.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1778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AA1F-CE67-BBD9-5C8A-2D287DAC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The Academic Wake-Up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D7803-D2A3-FEC4-ECD4-BE53B222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The Complacency:</a:t>
            </a:r>
            <a:endParaRPr lang="en-US" dirty="0">
              <a:ea typeface="+mn-lt"/>
              <a:cs typeface="+mn-lt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Entered university with "high school confidence," neglecting post-lecture study. 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The Failure:</a:t>
            </a:r>
            <a:endParaRPr lang="en-US" dirty="0"/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Scored a "D" in Statistics II. </a:t>
            </a:r>
            <a:endParaRPr lang="en-US"/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"systemic failure" of personal work ethic. 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The Correction:</a:t>
            </a:r>
            <a:endParaRPr lang="en-US" dirty="0"/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Instituted a "Crash Program" (similar to mother's response to farm blight). </a:t>
            </a:r>
            <a:endParaRPr lang="en-US"/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Joined a serious study group and solved every textbook problem. 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Result: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Passed decisively upon retake.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29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6D21-A1FD-B685-680E-B4E98883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The Digital Portfolio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72E1-57E4-705E-150C-86D5682FF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Bootcamp Projects: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Expense Tracker:</a:t>
            </a:r>
            <a:r>
              <a:rPr lang="en-US" dirty="0">
                <a:ea typeface="+mn-lt"/>
                <a:cs typeface="+mn-lt"/>
              </a:rPr>
              <a:t> Built with Python/Flask. Inspired by mother's financial resourcefulness.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Resilience in Code: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The Crash:</a:t>
            </a:r>
            <a:r>
              <a:rPr lang="en-US" dirty="0">
                <a:ea typeface="+mn-lt"/>
                <a:cs typeface="+mn-lt"/>
              </a:rPr>
              <a:t> Laptop motherboard failed during a group project.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The Recovery:</a:t>
            </a:r>
            <a:r>
              <a:rPr lang="en-US" dirty="0">
                <a:ea typeface="+mn-lt"/>
                <a:cs typeface="+mn-lt"/>
              </a:rPr>
              <a:t> Borrowed a machine and rebuilt the code in 36 hours using memory and version control.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Industrial Attachment: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Internship Application Portal:</a:t>
            </a:r>
            <a:r>
              <a:rPr lang="en-US" dirty="0">
                <a:ea typeface="+mn-lt"/>
                <a:cs typeface="+mn-lt"/>
              </a:rPr>
              <a:t> A full-stack solution.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Tech Stack:</a:t>
            </a:r>
            <a:r>
              <a:rPr lang="en-US" dirty="0">
                <a:ea typeface="+mn-lt"/>
                <a:cs typeface="+mn-lt"/>
              </a:rPr>
              <a:t> MySQL (Database), PHP (Logic), Bootstrap (UI).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15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022E-A073-D919-02E5-140E115A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1081987" cy="1211681"/>
          </a:xfrm>
        </p:spPr>
        <p:txBody>
          <a:bodyPr anchor="b">
            <a:normAutofit fontScale="90000"/>
          </a:bodyPr>
          <a:lstStyle/>
          <a:p>
            <a:r>
              <a:rPr lang="en-US" sz="6600" b="1" u="sng" dirty="0">
                <a:ea typeface="+mj-lt"/>
                <a:cs typeface="+mj-lt"/>
              </a:rPr>
              <a:t>Conclusion – Ready to Deploy</a:t>
            </a:r>
            <a:endParaRPr lang="en-US" b="1" u="sng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80E5-2B9E-F624-538D-14FCBDCDB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ea typeface="+mn-lt"/>
                <a:cs typeface="+mn-lt"/>
              </a:rPr>
              <a:t>Synthesis of Traits:</a:t>
            </a:r>
            <a:endParaRPr lang="en-US" sz="3600"/>
          </a:p>
          <a:p>
            <a:r>
              <a:rPr lang="en-US" sz="3600" b="1">
                <a:ea typeface="+mn-lt"/>
                <a:cs typeface="+mn-lt"/>
              </a:rPr>
              <a:t>Iten:</a:t>
            </a:r>
            <a:r>
              <a:rPr lang="en-US" sz="3600">
                <a:ea typeface="+mn-lt"/>
                <a:cs typeface="+mn-lt"/>
              </a:rPr>
              <a:t> Built the lungs for the long race. </a:t>
            </a:r>
            <a:endParaRPr lang="en-US" sz="3600"/>
          </a:p>
          <a:p>
            <a:r>
              <a:rPr lang="en-US" sz="3600" b="1">
                <a:ea typeface="+mn-lt"/>
                <a:cs typeface="+mn-lt"/>
              </a:rPr>
              <a:t>Saints:</a:t>
            </a:r>
            <a:r>
              <a:rPr lang="en-US" sz="3600">
                <a:ea typeface="+mn-lt"/>
                <a:cs typeface="+mn-lt"/>
              </a:rPr>
              <a:t> Built the discipline for systems. </a:t>
            </a:r>
            <a:endParaRPr lang="en-US" sz="3600"/>
          </a:p>
          <a:p>
            <a:r>
              <a:rPr lang="en-US" sz="3600" b="1" dirty="0">
                <a:ea typeface="+mn-lt"/>
                <a:cs typeface="+mn-lt"/>
              </a:rPr>
              <a:t>Nyeri/</a:t>
            </a:r>
            <a:r>
              <a:rPr lang="en-US" sz="3600" b="1" err="1">
                <a:ea typeface="+mn-lt"/>
                <a:cs typeface="+mn-lt"/>
              </a:rPr>
              <a:t>DeKUT</a:t>
            </a:r>
            <a:r>
              <a:rPr lang="en-US" sz="3600" b="1" dirty="0">
                <a:ea typeface="+mn-lt"/>
                <a:cs typeface="+mn-lt"/>
              </a:rPr>
              <a:t>:</a:t>
            </a:r>
            <a:r>
              <a:rPr lang="en-US" sz="3600" dirty="0">
                <a:ea typeface="+mn-lt"/>
                <a:cs typeface="+mn-lt"/>
              </a:rPr>
              <a:t> Built the character for unpredictable frontiers.</a:t>
            </a:r>
            <a:endParaRPr lang="en-US" sz="360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3799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SketchyVTI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GradientVTI</vt:lpstr>
      <vt:lpstr>Film burn</vt:lpstr>
      <vt:lpstr>Echoes of the Escarpment: An Autobiography of Resilience and Innovation</vt:lpstr>
      <vt:lpstr>Introduction – The Geography of Worldview</vt:lpstr>
      <vt:lpstr>Foundations – Authority &amp; Economy (2003–2005)</vt:lpstr>
      <vt:lpstr>The Crucible – Loss &amp; Resilience (2006–2017)</vt:lpstr>
      <vt:lpstr>The Monastery of Discipline (2018–2022)</vt:lpstr>
      <vt:lpstr>The Stagnation &amp; The Farm (2020)</vt:lpstr>
      <vt:lpstr>The Ascent to Nyeri – Adaptation (2023–Present)</vt:lpstr>
      <vt:lpstr>The Academic Wake-Up Call</vt:lpstr>
      <vt:lpstr>The Digital Portfolio</vt:lpstr>
      <vt:lpstr>Conclusion – Ready to Deploy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117</cp:revision>
  <dcterms:created xsi:type="dcterms:W3CDTF">2026-01-25T16:26:26Z</dcterms:created>
  <dcterms:modified xsi:type="dcterms:W3CDTF">2026-01-25T16:55:48Z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